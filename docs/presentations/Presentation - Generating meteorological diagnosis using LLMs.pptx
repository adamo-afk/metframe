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60" r:id="rId6"/>
    <p:sldId id="267" r:id="rId7"/>
    <p:sldId id="268" r:id="rId8"/>
    <p:sldId id="269" r:id="rId9"/>
    <p:sldId id="266" r:id="rId10"/>
    <p:sldId id="264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7056">
          <p15:clr>
            <a:srgbClr val="A4A3A4"/>
          </p15:clr>
        </p15:guide>
        <p15:guide id="3" orient="horz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96"/>
      </p:cViewPr>
      <p:guideLst>
        <p:guide orient="horz" pos="1392"/>
        <p:guide pos="7056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420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7DE2140D-A365-EF24-49E0-90DA2EBD1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>
            <a:extLst>
              <a:ext uri="{FF2B5EF4-FFF2-40B4-BE49-F238E27FC236}">
                <a16:creationId xmlns:a16="http://schemas.microsoft.com/office/drawing/2014/main" id="{E54FE34A-50C3-7A2C-FAA2-878005CD8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5:notes">
            <a:extLst>
              <a:ext uri="{FF2B5EF4-FFF2-40B4-BE49-F238E27FC236}">
                <a16:creationId xmlns:a16="http://schemas.microsoft.com/office/drawing/2014/main" id="{D6F85478-FB56-D0FD-F7C8-675B2FD81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>
            <a:extLst>
              <a:ext uri="{FF2B5EF4-FFF2-40B4-BE49-F238E27FC236}">
                <a16:creationId xmlns:a16="http://schemas.microsoft.com/office/drawing/2014/main" id="{AB62B6A9-1625-0B5D-8D1F-9C34F715A7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9893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A076516D-9A36-E700-F71C-414994CD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>
            <a:extLst>
              <a:ext uri="{FF2B5EF4-FFF2-40B4-BE49-F238E27FC236}">
                <a16:creationId xmlns:a16="http://schemas.microsoft.com/office/drawing/2014/main" id="{7A232879-9677-6BA1-D81D-E7C252C68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5:notes">
            <a:extLst>
              <a:ext uri="{FF2B5EF4-FFF2-40B4-BE49-F238E27FC236}">
                <a16:creationId xmlns:a16="http://schemas.microsoft.com/office/drawing/2014/main" id="{242B2A21-AAE4-BE57-A6EC-6566972AD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>
            <a:extLst>
              <a:ext uri="{FF2B5EF4-FFF2-40B4-BE49-F238E27FC236}">
                <a16:creationId xmlns:a16="http://schemas.microsoft.com/office/drawing/2014/main" id="{3E4564E9-0596-F03B-4AAB-F42155EAF9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5266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ACEDA134-8674-CFC7-B467-34345AE9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>
            <a:extLst>
              <a:ext uri="{FF2B5EF4-FFF2-40B4-BE49-F238E27FC236}">
                <a16:creationId xmlns:a16="http://schemas.microsoft.com/office/drawing/2014/main" id="{3E538C4D-E4DE-0E69-584E-EA5CAA7C8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5:notes">
            <a:extLst>
              <a:ext uri="{FF2B5EF4-FFF2-40B4-BE49-F238E27FC236}">
                <a16:creationId xmlns:a16="http://schemas.microsoft.com/office/drawing/2014/main" id="{6253CFAD-7770-EABF-9F3B-BD5090C585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>
            <a:extLst>
              <a:ext uri="{FF2B5EF4-FFF2-40B4-BE49-F238E27FC236}">
                <a16:creationId xmlns:a16="http://schemas.microsoft.com/office/drawing/2014/main" id="{FF4794C5-D732-C7DB-35DD-5CC47E2D3A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5641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1A676D18-9D44-940E-FD74-1D242233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>
            <a:extLst>
              <a:ext uri="{FF2B5EF4-FFF2-40B4-BE49-F238E27FC236}">
                <a16:creationId xmlns:a16="http://schemas.microsoft.com/office/drawing/2014/main" id="{E0D6DD5E-C441-680B-7D70-22D47A16D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5:notes">
            <a:extLst>
              <a:ext uri="{FF2B5EF4-FFF2-40B4-BE49-F238E27FC236}">
                <a16:creationId xmlns:a16="http://schemas.microsoft.com/office/drawing/2014/main" id="{45914B02-5F5E-0243-0189-8C35DB654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>
            <a:extLst>
              <a:ext uri="{FF2B5EF4-FFF2-40B4-BE49-F238E27FC236}">
                <a16:creationId xmlns:a16="http://schemas.microsoft.com/office/drawing/2014/main" id="{7CCC77C6-1E9B-BF29-98D6-05307B047E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3232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icture">
  <p:cSld name="Title + Pictur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9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1280160" y="0"/>
            <a:ext cx="0" cy="335280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grpSp>
        <p:nvGrpSpPr>
          <p:cNvPr id="18" name="Google Shape;18;p2"/>
          <p:cNvGrpSpPr/>
          <p:nvPr/>
        </p:nvGrpSpPr>
        <p:grpSpPr>
          <a:xfrm rot="-192956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oogle Shape;19;p2"/>
            <p:cNvSpPr/>
            <p:nvPr/>
          </p:nvSpPr>
          <p:spPr>
            <a:xfrm>
              <a:off x="8217780" y="2973840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859002" y="2744546"/>
              <a:ext cx="139038" cy="139038"/>
            </a:xfrm>
            <a:custGeom>
              <a:avLst/>
              <a:gdLst/>
              <a:ahLst/>
              <a:cxnLst/>
              <a:rect l="l" t="t" r="r" b="b"/>
              <a:pathLst>
                <a:path w="139038" h="139038" extrusionOk="0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843462" y="3198265"/>
              <a:ext cx="127713" cy="127713"/>
            </a:xfrm>
            <a:custGeom>
              <a:avLst/>
              <a:gdLst/>
              <a:ahLst/>
              <a:cxnLst/>
              <a:rect l="l" t="t" r="r" b="b"/>
              <a:pathLst>
                <a:path w="127713" h="127713" extrusionOk="0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2" name="Google Shape;22;p2"/>
          <p:cNvSpPr>
            <a:spLocks noGrp="1"/>
          </p:cNvSpPr>
          <p:nvPr>
            <p:ph type="pic" idx="2"/>
          </p:nvPr>
        </p:nvSpPr>
        <p:spPr>
          <a:xfrm>
            <a:off x="8197587" y="411831"/>
            <a:ext cx="3521337" cy="35213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1280160" y="2327440"/>
            <a:ext cx="4846320" cy="404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6723402" y="2327441"/>
            <a:ext cx="4846320" cy="404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740664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29" name="Google Shape;29;p3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ftr" idx="11"/>
          </p:nvPr>
        </p:nvSpPr>
        <p:spPr>
          <a:xfrm>
            <a:off x="128016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2">
  <p:cSld name="Title and image 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1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6531427" y="640080"/>
            <a:ext cx="5122889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740664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1280160" y="3017520"/>
            <a:ext cx="10374152" cy="320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ftr" idx="11"/>
          </p:nvPr>
        </p:nvSpPr>
        <p:spPr>
          <a:xfrm>
            <a:off x="753951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1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1280160" y="685800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6704755" y="685800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46" name="Google Shape;46;p5"/>
            <p:cNvSpPr/>
            <p:nvPr/>
          </p:nvSpPr>
          <p:spPr>
            <a:xfrm>
              <a:off x="8217780" y="2973840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7859002" y="2744546"/>
              <a:ext cx="139038" cy="139038"/>
            </a:xfrm>
            <a:custGeom>
              <a:avLst/>
              <a:gdLst/>
              <a:ahLst/>
              <a:cxnLst/>
              <a:rect l="l" t="t" r="r" b="b"/>
              <a:pathLst>
                <a:path w="139038" h="139038" extrusionOk="0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7843462" y="3198265"/>
              <a:ext cx="127713" cy="127713"/>
            </a:xfrm>
            <a:custGeom>
              <a:avLst/>
              <a:gdLst/>
              <a:ahLst/>
              <a:cxnLst/>
              <a:rect l="l" t="t" r="r" b="b"/>
              <a:pathLst>
                <a:path w="127713" h="127713" extrusionOk="0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128016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740664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grpSp>
        <p:nvGrpSpPr>
          <p:cNvPr id="51" name="Google Shape;51;p5"/>
          <p:cNvGrpSpPr/>
          <p:nvPr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52" name="Google Shape;52;p5"/>
            <p:cNvSpPr/>
            <p:nvPr/>
          </p:nvSpPr>
          <p:spPr>
            <a:xfrm>
              <a:off x="10508317" y="492206"/>
              <a:ext cx="139039" cy="139039"/>
            </a:xfrm>
            <a:custGeom>
              <a:avLst/>
              <a:gdLst/>
              <a:ahLst/>
              <a:cxnLst/>
              <a:rect l="l" t="t" r="r" b="b"/>
              <a:pathLst>
                <a:path w="139039" h="139039" extrusionOk="0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11477944" y="1055581"/>
              <a:ext cx="127714" cy="127714"/>
            </a:xfrm>
            <a:custGeom>
              <a:avLst/>
              <a:gdLst/>
              <a:ahLst/>
              <a:cxnLst/>
              <a:rect l="l" t="t" r="r" b="b"/>
              <a:pathLst>
                <a:path w="127714" h="127714" extrusionOk="0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11241555" y="446637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ubbles and Title 1">
  <p:cSld name="Image Bubbles and Title 1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>
            <a:spLocks noGrp="1"/>
          </p:cNvSpPr>
          <p:nvPr>
            <p:ph type="pic" idx="2"/>
          </p:nvPr>
        </p:nvSpPr>
        <p:spPr>
          <a:xfrm>
            <a:off x="1371606" y="3205313"/>
            <a:ext cx="3043077" cy="304308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5640609" y="3127248"/>
            <a:ext cx="611738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 rot="-298576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60" name="Google Shape;60;p6"/>
            <p:cNvSpPr/>
            <p:nvPr/>
          </p:nvSpPr>
          <p:spPr>
            <a:xfrm>
              <a:off x="8217780" y="2973840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7859002" y="2744546"/>
              <a:ext cx="139038" cy="139038"/>
            </a:xfrm>
            <a:custGeom>
              <a:avLst/>
              <a:gdLst/>
              <a:ahLst/>
              <a:cxnLst/>
              <a:rect l="l" t="t" r="r" b="b"/>
              <a:pathLst>
                <a:path w="139038" h="139038" extrusionOk="0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7843462" y="3198265"/>
              <a:ext cx="127713" cy="127713"/>
            </a:xfrm>
            <a:custGeom>
              <a:avLst/>
              <a:gdLst/>
              <a:ahLst/>
              <a:cxnLst/>
              <a:rect l="l" t="t" r="r" b="b"/>
              <a:pathLst>
                <a:path w="127713" h="127713" extrusionOk="0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63" name="Google Shape;63;p6"/>
          <p:cNvCxnSpPr/>
          <p:nvPr/>
        </p:nvCxnSpPr>
        <p:spPr>
          <a:xfrm>
            <a:off x="740664" y="3503032"/>
            <a:ext cx="0" cy="334609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Slide">
  <p:cSld name="Title Only Slid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6" name="Google Shape;66;p7"/>
          <p:cNvCxnSpPr/>
          <p:nvPr/>
        </p:nvCxnSpPr>
        <p:spPr>
          <a:xfrm>
            <a:off x="1280160" y="3496322"/>
            <a:ext cx="0" cy="335280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grpSp>
        <p:nvGrpSpPr>
          <p:cNvPr id="67" name="Google Shape;67;p7"/>
          <p:cNvGrpSpPr/>
          <p:nvPr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68" name="Google Shape;68;p7"/>
            <p:cNvSpPr/>
            <p:nvPr/>
          </p:nvSpPr>
          <p:spPr>
            <a:xfrm>
              <a:off x="8217780" y="2973840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859002" y="2744546"/>
              <a:ext cx="139038" cy="139038"/>
            </a:xfrm>
            <a:custGeom>
              <a:avLst/>
              <a:gdLst/>
              <a:ahLst/>
              <a:cxnLst/>
              <a:rect l="l" t="t" r="r" b="b"/>
              <a:pathLst>
                <a:path w="139038" h="139038" extrusionOk="0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7843462" y="3198265"/>
              <a:ext cx="127713" cy="127713"/>
            </a:xfrm>
            <a:custGeom>
              <a:avLst/>
              <a:gdLst/>
              <a:ahLst/>
              <a:cxnLst/>
              <a:rect l="l" t="t" r="r" b="b"/>
              <a:pathLst>
                <a:path w="127713" h="127713" extrusionOk="0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5116544" y="614202"/>
            <a:ext cx="5918072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40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ctr">
              <a:spcBef>
                <a:spcPts val="0"/>
              </a:spcBef>
              <a:buNone/>
              <a:defRPr sz="18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8"/>
          <p:cNvSpPr>
            <a:spLocks noGrp="1"/>
          </p:cNvSpPr>
          <p:nvPr>
            <p:ph type="pic" idx="2"/>
          </p:nvPr>
        </p:nvSpPr>
        <p:spPr>
          <a:xfrm>
            <a:off x="1280160" y="2530058"/>
            <a:ext cx="3707972" cy="3707971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8"/>
          <p:cNvSpPr txBox="1">
            <a:spLocks noGrp="1"/>
          </p:cNvSpPr>
          <p:nvPr>
            <p:ph type="body" idx="1"/>
          </p:nvPr>
        </p:nvSpPr>
        <p:spPr>
          <a:xfrm>
            <a:off x="5116548" y="3161752"/>
            <a:ext cx="5918068" cy="314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marL="1371600" lvl="2" indent="-2286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740664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77" name="Google Shape;77;p8"/>
          <p:cNvSpPr/>
          <p:nvPr/>
        </p:nvSpPr>
        <p:spPr>
          <a:xfrm>
            <a:off x="4745394" y="276027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4386614" y="253098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1652402" y="603157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8"/>
          <p:cNvSpPr txBox="1">
            <a:spLocks noGrp="1"/>
          </p:cNvSpPr>
          <p:nvPr>
            <p:ph type="ftr" idx="11"/>
          </p:nvPr>
        </p:nvSpPr>
        <p:spPr>
          <a:xfrm>
            <a:off x="7238999" y="6356350"/>
            <a:ext cx="37956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+ Picture">
  <p:cSld name="Title + Subtitle + Pictur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>
            <a:spLocks noGrp="1"/>
          </p:cNvSpPr>
          <p:nvPr>
            <p:ph type="ctrTitle"/>
          </p:nvPr>
        </p:nvSpPr>
        <p:spPr>
          <a:xfrm>
            <a:off x="1280159" y="640080"/>
            <a:ext cx="10302240" cy="1852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ubTitle" idx="1"/>
          </p:nvPr>
        </p:nvSpPr>
        <p:spPr>
          <a:xfrm>
            <a:off x="1280158" y="2588447"/>
            <a:ext cx="7853678" cy="72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84" name="Google Shape;84;p9"/>
          <p:cNvCxnSpPr/>
          <p:nvPr/>
        </p:nvCxnSpPr>
        <p:spPr>
          <a:xfrm>
            <a:off x="1280160" y="3496322"/>
            <a:ext cx="0" cy="335280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grpSp>
        <p:nvGrpSpPr>
          <p:cNvPr id="85" name="Google Shape;85;p9"/>
          <p:cNvGrpSpPr/>
          <p:nvPr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86" name="Google Shape;86;p9"/>
            <p:cNvSpPr/>
            <p:nvPr/>
          </p:nvSpPr>
          <p:spPr>
            <a:xfrm>
              <a:off x="8217780" y="2973840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7859002" y="2744546"/>
              <a:ext cx="139038" cy="139038"/>
            </a:xfrm>
            <a:custGeom>
              <a:avLst/>
              <a:gdLst/>
              <a:ahLst/>
              <a:cxnLst/>
              <a:rect l="l" t="t" r="r" b="b"/>
              <a:pathLst>
                <a:path w="139038" h="139038" extrusionOk="0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843462" y="3198265"/>
              <a:ext cx="127713" cy="127713"/>
            </a:xfrm>
            <a:custGeom>
              <a:avLst/>
              <a:gdLst/>
              <a:ahLst/>
              <a:cxnLst/>
              <a:rect l="l" t="t" r="r" b="b"/>
              <a:pathLst>
                <a:path w="127713" h="127713" extrusionOk="0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89" name="Google Shape;89;p9"/>
          <p:cNvSpPr>
            <a:spLocks noGrp="1"/>
          </p:cNvSpPr>
          <p:nvPr>
            <p:ph type="pic" idx="2"/>
          </p:nvPr>
        </p:nvSpPr>
        <p:spPr>
          <a:xfrm>
            <a:off x="8536252" y="3205313"/>
            <a:ext cx="3043077" cy="304308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mage and content">
  <p:cSld name="Title, imag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>
            <a:spLocks noGrp="1"/>
          </p:cNvSpPr>
          <p:nvPr>
            <p:ph type="title"/>
          </p:nvPr>
        </p:nvSpPr>
        <p:spPr>
          <a:xfrm>
            <a:off x="4114800" y="640080"/>
            <a:ext cx="7498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ldNum" idx="12"/>
          </p:nvPr>
        </p:nvSpPr>
        <p:spPr>
          <a:xfrm>
            <a:off x="484632" y="722376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0"/>
          <p:cNvSpPr>
            <a:spLocks noGrp="1"/>
          </p:cNvSpPr>
          <p:nvPr>
            <p:ph type="pic" idx="2"/>
          </p:nvPr>
        </p:nvSpPr>
        <p:spPr>
          <a:xfrm>
            <a:off x="1317615" y="895646"/>
            <a:ext cx="1956925" cy="1956928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0"/>
          <p:cNvSpPr txBox="1">
            <a:spLocks noGrp="1"/>
          </p:cNvSpPr>
          <p:nvPr>
            <p:ph type="body" idx="1"/>
          </p:nvPr>
        </p:nvSpPr>
        <p:spPr>
          <a:xfrm>
            <a:off x="4114800" y="2194560"/>
            <a:ext cx="74980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" name="Google Shape;95;p10"/>
          <p:cNvGrpSpPr/>
          <p:nvPr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96" name="Google Shape;96;p10"/>
            <p:cNvSpPr/>
            <p:nvPr/>
          </p:nvSpPr>
          <p:spPr>
            <a:xfrm>
              <a:off x="11281590" y="2070656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10969280" y="1780012"/>
              <a:ext cx="139039" cy="139039"/>
            </a:xfrm>
            <a:custGeom>
              <a:avLst/>
              <a:gdLst/>
              <a:ahLst/>
              <a:cxnLst/>
              <a:rect l="l" t="t" r="r" b="b"/>
              <a:pathLst>
                <a:path w="139039" h="139039" extrusionOk="0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8" name="Google Shape;98;p10"/>
          <p:cNvSpPr txBox="1">
            <a:spLocks noGrp="1"/>
          </p:cNvSpPr>
          <p:nvPr>
            <p:ph type="ftr" idx="11"/>
          </p:nvPr>
        </p:nvSpPr>
        <p:spPr>
          <a:xfrm>
            <a:off x="128016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9" name="Google Shape;99;p10"/>
          <p:cNvCxnSpPr/>
          <p:nvPr/>
        </p:nvCxnSpPr>
        <p:spPr>
          <a:xfrm>
            <a:off x="740664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slide" type="title">
  <p:cSld name="TITL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>
            <a:spLocks noGrp="1"/>
          </p:cNvSpPr>
          <p:nvPr>
            <p:ph type="ctrTitle"/>
          </p:nvPr>
        </p:nvSpPr>
        <p:spPr>
          <a:xfrm>
            <a:off x="1280159" y="3383280"/>
            <a:ext cx="10302240" cy="1852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subTitle" idx="1"/>
          </p:nvPr>
        </p:nvSpPr>
        <p:spPr>
          <a:xfrm>
            <a:off x="1280158" y="2966886"/>
            <a:ext cx="10302237" cy="39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03" name="Google Shape;103;p11"/>
          <p:cNvGrpSpPr/>
          <p:nvPr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04" name="Google Shape;104;p11"/>
            <p:cNvSpPr/>
            <p:nvPr/>
          </p:nvSpPr>
          <p:spPr>
            <a:xfrm>
              <a:off x="8217780" y="2973840"/>
              <a:ext cx="91138" cy="91138"/>
            </a:xfrm>
            <a:custGeom>
              <a:avLst/>
              <a:gdLst/>
              <a:ahLst/>
              <a:cxnLst/>
              <a:rect l="l" t="t" r="r" b="b"/>
              <a:pathLst>
                <a:path w="91138" h="91138" extrusionOk="0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7859002" y="2744546"/>
              <a:ext cx="139038" cy="139038"/>
            </a:xfrm>
            <a:custGeom>
              <a:avLst/>
              <a:gdLst/>
              <a:ahLst/>
              <a:cxnLst/>
              <a:rect l="l" t="t" r="r" b="b"/>
              <a:pathLst>
                <a:path w="139038" h="139038" extrusionOk="0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7843462" y="3198265"/>
              <a:ext cx="127713" cy="127713"/>
            </a:xfrm>
            <a:custGeom>
              <a:avLst/>
              <a:gdLst/>
              <a:ahLst/>
              <a:cxnLst/>
              <a:rect l="l" t="t" r="r" b="b"/>
              <a:pathLst>
                <a:path w="127713" h="127713" extrusionOk="0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107" name="Google Shape;107;p11"/>
          <p:cNvCxnSpPr/>
          <p:nvPr/>
        </p:nvCxnSpPr>
        <p:spPr>
          <a:xfrm>
            <a:off x="1280160" y="0"/>
            <a:ext cx="0" cy="2775857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2">
  <p:cSld name="Comparison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>
            <a:off x="6412992" y="0"/>
            <a:ext cx="5779008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2"/>
          <p:cNvSpPr txBox="1"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40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1"/>
          </p:nvPr>
        </p:nvSpPr>
        <p:spPr>
          <a:xfrm>
            <a:off x="1279526" y="1533524"/>
            <a:ext cx="4663440" cy="189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lphaLcPeriod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arenR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lphaLcParenR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romanLcPeriod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body" idx="2"/>
          </p:nvPr>
        </p:nvSpPr>
        <p:spPr>
          <a:xfrm>
            <a:off x="1280160" y="3482974"/>
            <a:ext cx="4663440" cy="119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body" idx="3"/>
          </p:nvPr>
        </p:nvSpPr>
        <p:spPr>
          <a:xfrm>
            <a:off x="1280160" y="4692058"/>
            <a:ext cx="4663440" cy="1584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ftr" idx="11"/>
          </p:nvPr>
        </p:nvSpPr>
        <p:spPr>
          <a:xfrm>
            <a:off x="128016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2"/>
          <p:cNvCxnSpPr/>
          <p:nvPr/>
        </p:nvCxnSpPr>
        <p:spPr>
          <a:xfrm>
            <a:off x="740664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Title and Content 3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1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ldNum" idx="12"/>
          </p:nvPr>
        </p:nvSpPr>
        <p:spPr>
          <a:xfrm>
            <a:off x="484632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ctr">
              <a:spcBef>
                <a:spcPts val="0"/>
              </a:spcBef>
              <a:buNone/>
              <a:defRPr sz="1800" b="1" i="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1280161" y="2777067"/>
            <a:ext cx="4663440" cy="355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30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6412089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3"/>
          <p:cNvSpPr>
            <a:spLocks noGrp="1"/>
          </p:cNvSpPr>
          <p:nvPr>
            <p:ph type="pic" idx="2"/>
          </p:nvPr>
        </p:nvSpPr>
        <p:spPr>
          <a:xfrm>
            <a:off x="6695553" y="301752"/>
            <a:ext cx="5221224" cy="626364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13"/>
          <p:cNvSpPr txBox="1">
            <a:spLocks noGrp="1"/>
          </p:cNvSpPr>
          <p:nvPr>
            <p:ph type="ftr" idx="11"/>
          </p:nvPr>
        </p:nvSpPr>
        <p:spPr>
          <a:xfrm>
            <a:off x="1280160" y="6356350"/>
            <a:ext cx="443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4" name="Google Shape;124;p13"/>
          <p:cNvCxnSpPr/>
          <p:nvPr/>
        </p:nvCxnSpPr>
        <p:spPr>
          <a:xfrm>
            <a:off x="745127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1"/>
          </p:nvPr>
        </p:nvSpPr>
        <p:spPr>
          <a:xfrm>
            <a:off x="1280160" y="2103119"/>
            <a:ext cx="100876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740664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ftr" idx="11"/>
          </p:nvPr>
        </p:nvSpPr>
        <p:spPr>
          <a:xfrm>
            <a:off x="128016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ft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sldNum" idx="12"/>
          </p:nvPr>
        </p:nvSpPr>
        <p:spPr>
          <a:xfrm>
            <a:off x="484632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5" name="Google Shape;135;p15"/>
          <p:cNvCxnSpPr/>
          <p:nvPr/>
        </p:nvCxnSpPr>
        <p:spPr>
          <a:xfrm>
            <a:off x="715890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16"/>
          <p:cNvCxnSpPr/>
          <p:nvPr/>
        </p:nvCxnSpPr>
        <p:spPr>
          <a:xfrm>
            <a:off x="715890" y="1371600"/>
            <a:ext cx="0" cy="548640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38" name="Google Shape;138;p16"/>
          <p:cNvSpPr txBox="1">
            <a:spLocks noGrp="1"/>
          </p:cNvSpPr>
          <p:nvPr>
            <p:ph type="ftr" idx="11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486121" y="726630"/>
            <a:ext cx="520991" cy="51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8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>
            <a:spLocks noGrp="1"/>
          </p:cNvSpPr>
          <p:nvPr>
            <p:ph type="ctrTitle"/>
          </p:nvPr>
        </p:nvSpPr>
        <p:spPr>
          <a:xfrm>
            <a:off x="1618203" y="2459589"/>
            <a:ext cx="10047572" cy="144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0" bIns="0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</a:pPr>
            <a:r>
              <a:rPr lang="en-US" sz="3200" dirty="0"/>
              <a:t>Generating meteorological diagnosis using LLMs</a:t>
            </a:r>
            <a:endParaRPr sz="32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1187896" y="5351545"/>
            <a:ext cx="4046382" cy="103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Thesis advisor</a:t>
            </a:r>
          </a:p>
          <a:p>
            <a:pPr marL="0" marR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Conf. dr. </a:t>
            </a:r>
            <a:r>
              <a:rPr lang="en-US" sz="18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</a:t>
            </a:r>
            <a:r>
              <a:rPr lang="en-US" sz="18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Traian-Eugen REBEDEA</a:t>
            </a:r>
            <a:endParaRPr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Google Shape;146;p17">
            <a:extLst>
              <a:ext uri="{FF2B5EF4-FFF2-40B4-BE49-F238E27FC236}">
                <a16:creationId xmlns:a16="http://schemas.microsoft.com/office/drawing/2014/main" id="{C623EEAA-1A65-8C72-07D4-F517648931AA}"/>
              </a:ext>
            </a:extLst>
          </p:cNvPr>
          <p:cNvSpPr txBox="1"/>
          <p:nvPr/>
        </p:nvSpPr>
        <p:spPr>
          <a:xfrm>
            <a:off x="9488574" y="5827253"/>
            <a:ext cx="2310341" cy="56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Claudiu</a:t>
            </a:r>
            <a:r>
              <a:rPr lang="en-US" sz="18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ADAM</a:t>
            </a:r>
            <a:endParaRPr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Google Shape;145;p17">
            <a:extLst>
              <a:ext uri="{FF2B5EF4-FFF2-40B4-BE49-F238E27FC236}">
                <a16:creationId xmlns:a16="http://schemas.microsoft.com/office/drawing/2014/main" id="{1299D997-3529-53A5-14B8-21884A3D9F7F}"/>
              </a:ext>
            </a:extLst>
          </p:cNvPr>
          <p:cNvSpPr txBox="1">
            <a:spLocks/>
          </p:cNvSpPr>
          <p:nvPr/>
        </p:nvSpPr>
        <p:spPr>
          <a:xfrm>
            <a:off x="1714675" y="767980"/>
            <a:ext cx="10047572" cy="1511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35000"/>
              </a:lnSpc>
              <a:buSzPts val="4000"/>
            </a:pPr>
            <a:r>
              <a:rPr lang="en-US" sz="4000" dirty="0"/>
              <a:t>RESEARCH REPORT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>
            <a:spLocks noGrp="1"/>
          </p:cNvSpPr>
          <p:nvPr>
            <p:ph type="title"/>
          </p:nvPr>
        </p:nvSpPr>
        <p:spPr>
          <a:xfrm>
            <a:off x="1184996" y="489985"/>
            <a:ext cx="9137012" cy="72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291FF5-4B01-BDC0-66ED-0A1EBB75EF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0E8D8D9-526E-FAEB-65D4-5896EF2F176F}"/>
              </a:ext>
            </a:extLst>
          </p:cNvPr>
          <p:cNvSpPr/>
          <p:nvPr/>
        </p:nvSpPr>
        <p:spPr>
          <a:xfrm>
            <a:off x="1444201" y="2421431"/>
            <a:ext cx="8312119" cy="20934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LLMs demonstrate potential in specialized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A1A1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Application to meteorology remains unexplored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A1A1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 for accurate weather interpretation and data </a:t>
            </a:r>
            <a:r>
              <a:rPr lang="en-US" sz="2000" dirty="0" err="1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explainability</a:t>
            </a:r>
            <a:endParaRPr lang="en-US" sz="2000" dirty="0">
              <a:solidFill>
                <a:srgbClr val="1A1A1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C878015-8126-DBD0-DCF1-76EC5951BB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71574" y="1556743"/>
            <a:ext cx="1243952" cy="1243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>
            <a:spLocks noGrp="1"/>
          </p:cNvSpPr>
          <p:nvPr>
            <p:ph type="title"/>
          </p:nvPr>
        </p:nvSpPr>
        <p:spPr>
          <a:xfrm>
            <a:off x="1184996" y="489985"/>
            <a:ext cx="9137012" cy="72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EXPERIMENTAL APPROACH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291FF5-4B01-BDC0-66ED-0A1EBB75EF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4E20A2E6-078E-AF87-F06A-9359DF8F4B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02502" y="4625789"/>
            <a:ext cx="457200" cy="457200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434D059-A52D-5F38-93AC-E23B7488676C}"/>
              </a:ext>
            </a:extLst>
          </p:cNvPr>
          <p:cNvSpPr/>
          <p:nvPr/>
        </p:nvSpPr>
        <p:spPr>
          <a:xfrm>
            <a:off x="1942582" y="4488629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LLMs</a:t>
            </a:r>
            <a:endParaRPr lang="en-US" sz="18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91A16D9-F43B-71B4-080A-9B4C7B77FF71}"/>
              </a:ext>
            </a:extLst>
          </p:cNvPr>
          <p:cNvSpPr/>
          <p:nvPr/>
        </p:nvSpPr>
        <p:spPr>
          <a:xfrm>
            <a:off x="1942582" y="4854389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capabilities of 8 models for meteorological reasoning</a:t>
            </a:r>
            <a:endParaRPr lang="en-US" sz="1400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CB75A3DA-3099-A951-C765-7EF19CB939D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18225" y="3482789"/>
            <a:ext cx="457200" cy="457200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E1CF401C-E74C-E861-5D01-611EE7A1023D}"/>
              </a:ext>
            </a:extLst>
          </p:cNvPr>
          <p:cNvSpPr/>
          <p:nvPr/>
        </p:nvSpPr>
        <p:spPr>
          <a:xfrm>
            <a:off x="1958305" y="3345629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approaches</a:t>
            </a:r>
            <a:endParaRPr lang="en-US" sz="18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48BE578-5004-3296-E13D-D8942D9F9334}"/>
              </a:ext>
            </a:extLst>
          </p:cNvPr>
          <p:cNvSpPr/>
          <p:nvPr/>
        </p:nvSpPr>
        <p:spPr>
          <a:xfrm>
            <a:off x="1958305" y="3711389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Chain-of-Thought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arameter-efficient fine-tuning using Zero-shot </a:t>
            </a:r>
            <a:endParaRPr lang="en-US" sz="1400" b="1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A9A0DA8E-4FC1-027D-90FF-7103000CBF9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06226" y="2339789"/>
            <a:ext cx="457200" cy="457200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DF1AAEBB-FD80-BED4-4BFD-5B3A8C7DD29B}"/>
              </a:ext>
            </a:extLst>
          </p:cNvPr>
          <p:cNvSpPr/>
          <p:nvPr/>
        </p:nvSpPr>
        <p:spPr>
          <a:xfrm>
            <a:off x="1946306" y="2202629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weather diagnoses</a:t>
            </a:r>
            <a:endParaRPr lang="en-US" sz="18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0E8D8D9-526E-FAEB-65D4-5896EF2F176F}"/>
              </a:ext>
            </a:extLst>
          </p:cNvPr>
          <p:cNvSpPr/>
          <p:nvPr/>
        </p:nvSpPr>
        <p:spPr>
          <a:xfrm>
            <a:off x="1946306" y="2568389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accurate meteorological interpretations of daily weather diagnoses from Romanian ground station data 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(Bucharest)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22470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title"/>
          </p:nvPr>
        </p:nvSpPr>
        <p:spPr>
          <a:xfrm>
            <a:off x="1112359" y="-96330"/>
            <a:ext cx="7930015" cy="164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DATA SOURCES &amp; VALIDATION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ACFF3F-3F3B-D1D2-F4D9-B53B07A46D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A8BEF8D-A0BB-7367-1CC4-BD1CDA1FB381}"/>
              </a:ext>
            </a:extLst>
          </p:cNvPr>
          <p:cNvSpPr/>
          <p:nvPr/>
        </p:nvSpPr>
        <p:spPr>
          <a:xfrm>
            <a:off x="1189993" y="1997963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Bucharest weather stations</a:t>
            </a:r>
            <a:endParaRPr lang="en-US" sz="2000" dirty="0">
              <a:solidFill>
                <a:schemeClr val="tx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24164AA-47B1-2759-0F80-CFE8104DB218}"/>
              </a:ext>
            </a:extLst>
          </p:cNvPr>
          <p:cNvSpPr/>
          <p:nvPr/>
        </p:nvSpPr>
        <p:spPr>
          <a:xfrm>
            <a:off x="1189993" y="2409443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Filaret | </a:t>
            </a:r>
            <a:r>
              <a:rPr lang="en-US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Băneasa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| Afumați</a:t>
            </a: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132C186-1AFA-B2CA-51F0-C3167C8EE21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26868" y="1954112"/>
            <a:ext cx="462020" cy="46202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EA1DEC2F-58A4-AE22-5824-347A619B05D4}"/>
              </a:ext>
            </a:extLst>
          </p:cNvPr>
          <p:cNvSpPr/>
          <p:nvPr/>
        </p:nvSpPr>
        <p:spPr>
          <a:xfrm>
            <a:off x="1219385" y="380168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Meteorological variables</a:t>
            </a:r>
            <a:endParaRPr lang="en-US" sz="1800" dirty="0">
              <a:solidFill>
                <a:schemeClr val="tx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5AD1A2D-C7DF-B56E-67BA-872E11EC1964}"/>
              </a:ext>
            </a:extLst>
          </p:cNvPr>
          <p:cNvSpPr/>
          <p:nvPr/>
        </p:nvSpPr>
        <p:spPr>
          <a:xfrm>
            <a:off x="1219385" y="4211801"/>
            <a:ext cx="720417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Temperature </a:t>
            </a:r>
            <a:r>
              <a:rPr lang="en-US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|</a:t>
            </a:r>
            <a:r>
              <a:rPr lang="en-US" sz="14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Precipitation | Wind speed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| </a:t>
            </a:r>
            <a:r>
              <a:rPr lang="en-US" sz="14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 coverage </a:t>
            </a:r>
            <a:r>
              <a:rPr lang="en-US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| </a:t>
            </a:r>
            <a:r>
              <a:rPr lang="en-US" sz="14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Weather phenomena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Hourly and daily 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</a:t>
            </a:r>
            <a:r>
              <a:rPr lang="en-US" sz="1400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emporal resolution of data acquisition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1CE7C-A025-23E6-5371-A9C0A0DED2D8}"/>
              </a:ext>
            </a:extLst>
          </p:cNvPr>
          <p:cNvSpPr txBox="1"/>
          <p:nvPr/>
        </p:nvSpPr>
        <p:spPr>
          <a:xfrm>
            <a:off x="1189993" y="2858922"/>
            <a:ext cx="511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validated against diagnoses from Romanian NMA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70C67CD-7FDA-0AD0-BA5A-84192FE6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379" y="3727601"/>
            <a:ext cx="462021" cy="4620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506904-F012-FE84-60E9-AB9708BDB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1" y="1079520"/>
            <a:ext cx="3106700" cy="42102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0455A2-D59D-455F-0D9B-59964E11E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12" y="5489489"/>
            <a:ext cx="5295764" cy="928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2055B7-BB19-206C-9102-30081281FE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281" y="5489489"/>
            <a:ext cx="2758336" cy="9285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A21AEE-2C43-C4A8-6954-05F07392BC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0022" y="5475196"/>
            <a:ext cx="2758337" cy="9428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9864533-7A25-AE45-92A2-C00772285A76}"/>
              </a:ext>
            </a:extLst>
          </p:cNvPr>
          <p:cNvSpPr/>
          <p:nvPr/>
        </p:nvSpPr>
        <p:spPr>
          <a:xfrm>
            <a:off x="3155497" y="5489486"/>
            <a:ext cx="3147380" cy="9285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F1D721-F0DD-94C6-35F8-F398C03B040D}"/>
              </a:ext>
            </a:extLst>
          </p:cNvPr>
          <p:cNvSpPr/>
          <p:nvPr/>
        </p:nvSpPr>
        <p:spPr>
          <a:xfrm>
            <a:off x="8686800" y="5489486"/>
            <a:ext cx="478818" cy="9285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35032-8FF4-A31B-0716-069B28714690}"/>
              </a:ext>
            </a:extLst>
          </p:cNvPr>
          <p:cNvSpPr/>
          <p:nvPr/>
        </p:nvSpPr>
        <p:spPr>
          <a:xfrm>
            <a:off x="11658599" y="5475196"/>
            <a:ext cx="369759" cy="9285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F97651-B5B8-EE10-CF29-51787D66CF9E}"/>
              </a:ext>
            </a:extLst>
          </p:cNvPr>
          <p:cNvSpPr txBox="1"/>
          <p:nvPr/>
        </p:nvSpPr>
        <p:spPr>
          <a:xfrm>
            <a:off x="9911062" y="6479264"/>
            <a:ext cx="147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Precipitation rate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C4D197-0B79-3DF1-F96C-2B0F25448DC2}"/>
              </a:ext>
            </a:extLst>
          </p:cNvPr>
          <p:cNvSpPr txBox="1"/>
          <p:nvPr/>
        </p:nvSpPr>
        <p:spPr>
          <a:xfrm>
            <a:off x="7217550" y="6479264"/>
            <a:ext cx="113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Tmax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|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Tmin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9BF305-D40A-ABB5-BCDA-15B919F6ECD7}"/>
              </a:ext>
            </a:extLst>
          </p:cNvPr>
          <p:cNvSpPr txBox="1"/>
          <p:nvPr/>
        </p:nvSpPr>
        <p:spPr>
          <a:xfrm>
            <a:off x="2321457" y="6479264"/>
            <a:ext cx="2667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Wind speed | Cloudiness |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1097594" y="422879"/>
            <a:ext cx="6960172" cy="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RESULTS: FEW-SHOT </a:t>
            </a:r>
            <a:r>
              <a:rPr lang="en-US" dirty="0" err="1"/>
              <a:t>CoT</a:t>
            </a:r>
            <a:r>
              <a:rPr lang="en-US" dirty="0"/>
              <a:t> (1)</a:t>
            </a:r>
            <a:endParaRPr dirty="0"/>
          </a:p>
        </p:txBody>
      </p:sp>
      <p:sp>
        <p:nvSpPr>
          <p:cNvPr id="218" name="Google Shape;218;p21"/>
          <p:cNvSpPr txBox="1"/>
          <p:nvPr/>
        </p:nvSpPr>
        <p:spPr>
          <a:xfrm>
            <a:off x="1097595" y="1234944"/>
            <a:ext cx="61941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Text of a diagnose contains around 5 statements about general weather observations (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gpt-5-mini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generated step-by-step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prompts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A2463-DEC9-3C38-184F-1BC1A6B40E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444BF4-8D81-BE95-A55B-B129BADC5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248" y="337709"/>
            <a:ext cx="3838166" cy="9680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age3.png">
            <a:extLst>
              <a:ext uri="{FF2B5EF4-FFF2-40B4-BE49-F238E27FC236}">
                <a16:creationId xmlns:a16="http://schemas.microsoft.com/office/drawing/2014/main" id="{4980BE97-C0D5-D264-72BE-71E271DD89A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678872" y="1758124"/>
            <a:ext cx="4105909" cy="2460625"/>
          </a:xfrm>
          <a:prstGeom prst="rect">
            <a:avLst/>
          </a:prstGeom>
          <a:ln/>
        </p:spPr>
      </p:pic>
      <p:pic>
        <p:nvPicPr>
          <p:cNvPr id="4" name="image17.png">
            <a:extLst>
              <a:ext uri="{FF2B5EF4-FFF2-40B4-BE49-F238E27FC236}">
                <a16:creationId xmlns:a16="http://schemas.microsoft.com/office/drawing/2014/main" id="{2508EFAC-095A-B9C6-42AB-A5FEAC96994A}"/>
              </a:ext>
            </a:extLst>
          </p:cNvPr>
          <p:cNvPicPr/>
          <p:nvPr/>
        </p:nvPicPr>
        <p:blipFill>
          <a:blip r:embed="rId5"/>
          <a:srcRect b="28360"/>
          <a:stretch>
            <a:fillRect/>
          </a:stretch>
        </p:blipFill>
        <p:spPr>
          <a:xfrm>
            <a:off x="6198282" y="1722698"/>
            <a:ext cx="4673745" cy="2399758"/>
          </a:xfrm>
          <a:prstGeom prst="rect">
            <a:avLst/>
          </a:prstGeom>
          <a:ln/>
        </p:spPr>
      </p:pic>
      <p:pic>
        <p:nvPicPr>
          <p:cNvPr id="5" name="image16.png">
            <a:extLst>
              <a:ext uri="{FF2B5EF4-FFF2-40B4-BE49-F238E27FC236}">
                <a16:creationId xmlns:a16="http://schemas.microsoft.com/office/drawing/2014/main" id="{9F9F4412-567E-50E1-6F3A-082C7B5D3AF6}"/>
              </a:ext>
            </a:extLst>
          </p:cNvPr>
          <p:cNvPicPr/>
          <p:nvPr/>
        </p:nvPicPr>
        <p:blipFill>
          <a:blip r:embed="rId6"/>
          <a:srcRect b="29240"/>
          <a:stretch>
            <a:fillRect/>
          </a:stretch>
        </p:blipFill>
        <p:spPr>
          <a:xfrm>
            <a:off x="6198282" y="4218749"/>
            <a:ext cx="4673745" cy="2399758"/>
          </a:xfrm>
          <a:prstGeom prst="rect">
            <a:avLst/>
          </a:prstGeom>
          <a:ln/>
        </p:spPr>
      </p:pic>
      <p:pic>
        <p:nvPicPr>
          <p:cNvPr id="6" name="image4.png">
            <a:extLst>
              <a:ext uri="{FF2B5EF4-FFF2-40B4-BE49-F238E27FC236}">
                <a16:creationId xmlns:a16="http://schemas.microsoft.com/office/drawing/2014/main" id="{3D66920A-D91C-7FE8-1F95-7E1D177BFE8D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727767" y="4218749"/>
            <a:ext cx="4057015" cy="2639251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D366BD25-2E61-A5F2-1B74-348197DD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4EA02460-33BE-1510-6765-3B4A7BECE1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594" y="422879"/>
            <a:ext cx="7260881" cy="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RESULTS: FEW-SHOT </a:t>
            </a:r>
            <a:r>
              <a:rPr lang="en-US" dirty="0" err="1"/>
              <a:t>CoT</a:t>
            </a:r>
            <a:r>
              <a:rPr lang="en-US" dirty="0"/>
              <a:t> (2)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CB1BDB-2D3B-E3BC-49A0-10B1B055B4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7" name="image11.png">
            <a:extLst>
              <a:ext uri="{FF2B5EF4-FFF2-40B4-BE49-F238E27FC236}">
                <a16:creationId xmlns:a16="http://schemas.microsoft.com/office/drawing/2014/main" id="{FC0714CA-55FF-D068-73B9-5ABDE362017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95222" y="1810184"/>
            <a:ext cx="4728845" cy="31330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age2.png">
            <a:extLst>
              <a:ext uri="{FF2B5EF4-FFF2-40B4-BE49-F238E27FC236}">
                <a16:creationId xmlns:a16="http://schemas.microsoft.com/office/drawing/2014/main" id="{7E3C05FB-BE93-4E71-7512-32962DAD23A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470862" y="1810184"/>
            <a:ext cx="4728845" cy="31330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557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34C4D481-F252-8B73-4FDD-35F26CCE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4ED31A61-A418-4D3E-40C0-C763754363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594" y="422879"/>
            <a:ext cx="10608285" cy="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RESULTS: FEW-SHOT </a:t>
            </a:r>
            <a:r>
              <a:rPr lang="en-US" dirty="0" err="1"/>
              <a:t>CoT</a:t>
            </a:r>
            <a:r>
              <a:rPr lang="en-US" dirty="0"/>
              <a:t> + LLM-as-a-Judge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89FCB6-F6B2-F2C2-5175-7376156AC0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3" name="image8.png">
            <a:extLst>
              <a:ext uri="{FF2B5EF4-FFF2-40B4-BE49-F238E27FC236}">
                <a16:creationId xmlns:a16="http://schemas.microsoft.com/office/drawing/2014/main" id="{E600DCC0-896E-F4F0-7BFD-F229ECC8D70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8909" y="1764982"/>
            <a:ext cx="5036820" cy="33280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13.png">
            <a:extLst>
              <a:ext uri="{FF2B5EF4-FFF2-40B4-BE49-F238E27FC236}">
                <a16:creationId xmlns:a16="http://schemas.microsoft.com/office/drawing/2014/main" id="{5DD707CD-489E-F479-D998-45C7E8F9357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499396" y="1765299"/>
            <a:ext cx="5035550" cy="3327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A0A7F8-376A-1AA3-C85A-605BD226ADF8}"/>
              </a:ext>
            </a:extLst>
          </p:cNvPr>
          <p:cNvSpPr txBox="1"/>
          <p:nvPr/>
        </p:nvSpPr>
        <p:spPr>
          <a:xfrm>
            <a:off x="1360756" y="5431168"/>
            <a:ext cx="47949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judge model (gpt-5-mini) receives detailed evaluation criteria and generates correlation scores between each sentence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2136D-DF37-8F10-C0AF-3CA0BA4604F4}"/>
              </a:ext>
            </a:extLst>
          </p:cNvPr>
          <p:cNvSpPr txBox="1"/>
          <p:nvPr/>
        </p:nvSpPr>
        <p:spPr>
          <a:xfrm>
            <a:off x="6739973" y="5431168"/>
            <a:ext cx="47949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It handles both four and five-sentence analyses, validates score ranges in the interval [0, 1], and calculates average correlations </a:t>
            </a:r>
          </a:p>
        </p:txBody>
      </p:sp>
    </p:spTree>
    <p:extLst>
      <p:ext uri="{BB962C8B-B14F-4D97-AF65-F5344CB8AC3E}">
        <p14:creationId xmlns:p14="http://schemas.microsoft.com/office/powerpoint/2010/main" val="39469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D9D050AF-B6A1-BEB1-AA69-7DC88953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B104976F-C1C6-C666-FFCE-6BB888DB87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594" y="422879"/>
            <a:ext cx="10752785" cy="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RESULTS: Llama3.1-8B-Instruct fine-tuning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EA4C8-EE52-BBD1-C16D-694F1DFBCA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BFC42-67FC-B28B-9265-444804525B2F}"/>
              </a:ext>
            </a:extLst>
          </p:cNvPr>
          <p:cNvSpPr txBox="1"/>
          <p:nvPr/>
        </p:nvSpPr>
        <p:spPr>
          <a:xfrm>
            <a:off x="1292792" y="2354313"/>
            <a:ext cx="53657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Parameter-efficient fine-tuning 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</a:t>
            </a:r>
            <a:r>
              <a:rPr lang="en-US" b="1" dirty="0" err="1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LoRA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adapters with rank 32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4-bit quantization - only the weights of attention and feed-forward layers remained trainable</a:t>
            </a:r>
          </a:p>
          <a:p>
            <a:endParaRPr lang="en-US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Fine-tuned through HF for 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 epochs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2e-4 learning rate</a:t>
            </a:r>
          </a:p>
          <a:p>
            <a:endParaRPr lang="en-US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Zero-shot fine-tuning: 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prompt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an instruction-based structure,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user prompt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containing an average over the weather data for the past 24 hours, and </a:t>
            </a:r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assistant response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ground-truth diagnosis</a:t>
            </a:r>
          </a:p>
          <a:p>
            <a:endParaRPr lang="en-US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ROUGE-L - 0.41 compared to the </a:t>
            </a:r>
            <a:r>
              <a:rPr lang="en-US" dirty="0" err="1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CoT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average of ~0.25</a:t>
            </a:r>
          </a:p>
          <a:p>
            <a:endParaRPr lang="en-US" b="1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BERT Score - 0.8865 compared to the </a:t>
            </a:r>
            <a:r>
              <a:rPr lang="en-US" dirty="0" err="1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CoT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average of ~0.85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B665B7-A19E-96F0-9975-916D2AFE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196" y="2884322"/>
            <a:ext cx="4646445" cy="1514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023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63B91B3D-F631-8270-03CE-CF5FAC8B9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1934615E-0F1C-3F29-66CC-A2B6819CB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9221" y="268593"/>
            <a:ext cx="5192831" cy="71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dirty="0"/>
              <a:t>FUTURE WORK</a:t>
            </a:r>
            <a:endParaRPr dirty="0"/>
          </a:p>
        </p:txBody>
      </p:sp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A06E1757-5DCC-286A-1987-FFDAC70F9006}"/>
              </a:ext>
            </a:extLst>
          </p:cNvPr>
          <p:cNvSpPr txBox="1"/>
          <p:nvPr/>
        </p:nvSpPr>
        <p:spPr>
          <a:xfrm>
            <a:off x="1149221" y="1034957"/>
            <a:ext cx="6951504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Types of </a:t>
            </a:r>
            <a:r>
              <a:rPr lang="en-US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to use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diagnoses and forecasts + numerical data from weather stations (text)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cloudiness values ​​from weather stations can be defined from satellite data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[1]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maps are valid between 2021-2025 for each month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[2]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can extract historical data from the images using the OpenAI API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[3]</a:t>
            </a:r>
            <a:endParaRPr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27840F-1621-D225-E11D-95CBD9E2A1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F0341-3D7E-9ACA-F036-55C5DB891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413" y="138968"/>
            <a:ext cx="2579195" cy="3797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37A5B1-F92D-BFB6-A823-96793484CC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594" y="4344934"/>
            <a:ext cx="3357993" cy="23740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EB648-E4AD-7CEE-FA58-E09FDA7F95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974" y="5000722"/>
            <a:ext cx="4345940" cy="17183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Google Shape;218;p21">
            <a:extLst>
              <a:ext uri="{FF2B5EF4-FFF2-40B4-BE49-F238E27FC236}">
                <a16:creationId xmlns:a16="http://schemas.microsoft.com/office/drawing/2014/main" id="{64B158E1-DC5D-745E-515D-3520709880A0}"/>
              </a:ext>
            </a:extLst>
          </p:cNvPr>
          <p:cNvSpPr txBox="1"/>
          <p:nvPr/>
        </p:nvSpPr>
        <p:spPr>
          <a:xfrm>
            <a:off x="1149221" y="2353297"/>
            <a:ext cx="619861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idea to implement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Transforming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diagnosis and prognosis texts into a times series dataset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applying the few-shot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prompting strategy (or other strategies) on the Bucharest data to make the connection between the diagnoses from the current day and the forecasts from the previous day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LLM will have to give a confidence score at the end of each answer (in the range [1, 10]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confident it is in the given prediction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monthly average temperature (ground-truth) – predictions improve as month progresses and more data is gathered – incorporating memory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C5302-0012-9F83-739D-F880F15CA1B0}"/>
              </a:ext>
            </a:extLst>
          </p:cNvPr>
          <p:cNvSpPr txBox="1"/>
          <p:nvPr/>
        </p:nvSpPr>
        <p:spPr>
          <a:xfrm>
            <a:off x="918482" y="5179742"/>
            <a:ext cx="177508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Baselines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Persistence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N-BEATS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2BE6C-C9D0-C0C7-1427-055C173E6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0530" y="138968"/>
            <a:ext cx="261827" cy="3826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964AB-1E2A-73D3-5D0F-2A3711A4B7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1440" y="4344934"/>
            <a:ext cx="261827" cy="3826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1338EC-8CF2-05F5-9EF4-3662F02EA9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976" y="6336362"/>
            <a:ext cx="261827" cy="38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3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-690245" y="1313127"/>
            <a:ext cx="8965094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500</Words>
  <Application>Microsoft Office PowerPoint</Application>
  <PresentationFormat>Widescreen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Open Sans</vt:lpstr>
      <vt:lpstr>Arial</vt:lpstr>
      <vt:lpstr>Calibri</vt:lpstr>
      <vt:lpstr>GradientVTI</vt:lpstr>
      <vt:lpstr>Generating meteorological diagnosis using LLMs</vt:lpstr>
      <vt:lpstr>MOTIVATION</vt:lpstr>
      <vt:lpstr>EXPERIMENTAL APPROACH</vt:lpstr>
      <vt:lpstr>DATA SOURCES &amp; VALIDATION</vt:lpstr>
      <vt:lpstr>RESULTS: FEW-SHOT CoT (1)</vt:lpstr>
      <vt:lpstr>RESULTS: FEW-SHOT CoT (2)</vt:lpstr>
      <vt:lpstr>RESULTS: FEW-SHOT CoT + LLM-as-a-Judge</vt:lpstr>
      <vt:lpstr>RESULTS: Llama3.1-8B-Instruct fine-tuning</vt:lpstr>
      <vt:lpstr>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meteorological diagnosis using LLMs</dc:title>
  <dc:creator>PC1 Sateliti</dc:creator>
  <cp:lastModifiedBy>PC1 Sateliti</cp:lastModifiedBy>
  <cp:revision>47</cp:revision>
  <dcterms:modified xsi:type="dcterms:W3CDTF">2026-02-11T07:10:55Z</dcterms:modified>
</cp:coreProperties>
</file>